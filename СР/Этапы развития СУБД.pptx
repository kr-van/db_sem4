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embeddedFontLst>
    <p:embeddedFont>
      <p:font typeface="Manrope" panose="020B0604020202020204" charset="0"/>
      <p:regular r:id="rId12"/>
    </p:embeddedFont>
    <p:embeddedFont>
      <p:font typeface="Prata" panose="020B0604020202020204" charset="-52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54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jpe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52429" y="688674"/>
            <a:ext cx="3566807" cy="1883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Этапы развития СУБД: от файлов к сложным системам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52429" y="3198916"/>
            <a:ext cx="2151426" cy="8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ru-RU" sz="1400" dirty="0">
                <a:solidFill>
                  <a:srgbClr val="BDA189"/>
                </a:solidFill>
                <a:latin typeface="Manrope" pitchFamily="34" charset="0"/>
              </a:rPr>
              <a:t>Работу выполнил:</a:t>
            </a:r>
          </a:p>
          <a:p>
            <a:pPr>
              <a:lnSpc>
                <a:spcPct val="133000"/>
              </a:lnSpc>
            </a:pPr>
            <a:r>
              <a:rPr lang="ru-RU" sz="1400" dirty="0">
                <a:solidFill>
                  <a:srgbClr val="BDA189"/>
                </a:solidFill>
                <a:latin typeface="Manrope" pitchFamily="34" charset="0"/>
              </a:rPr>
              <a:t>Студент группы ИВТ-2</a:t>
            </a:r>
          </a:p>
          <a:p>
            <a:pPr>
              <a:lnSpc>
                <a:spcPct val="133000"/>
              </a:lnSpc>
            </a:pPr>
            <a:r>
              <a:rPr lang="ru-RU" sz="1400" dirty="0">
                <a:solidFill>
                  <a:srgbClr val="BDA189"/>
                </a:solidFill>
                <a:latin typeface="Manrope" pitchFamily="34" charset="0"/>
              </a:rPr>
              <a:t>Кротов Иван Сергеевич</a:t>
            </a:r>
            <a:endParaRPr lang="en-US" sz="1400" dirty="0"/>
          </a:p>
        </p:txBody>
      </p:sp>
      <p:pic>
        <p:nvPicPr>
          <p:cNvPr id="10" name="Рисунок 9" descr="Сервер: что это такое, какими характеристиками должен обладать">
            <a:extLst>
              <a:ext uri="{FF2B5EF4-FFF2-40B4-BE49-F238E27FC236}">
                <a16:creationId xmlns:a16="http://schemas.microsoft.com/office/drawing/2014/main" id="{E28415CA-C3B8-BADA-5DDC-51C5E2D3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64" y="866379"/>
            <a:ext cx="4826057" cy="32153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347014-A057-F599-B57D-F9598FCE1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08" y="4562394"/>
            <a:ext cx="2095792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2233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 1 — Файловые системы (до 1960-х гг.)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52355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Характеристика:</a:t>
            </a: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Данные хранятся в отдельных файлах; нет централизованного управления, дублирование и сложность согласованности.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63465"/>
            <a:ext cx="2290465" cy="2177728"/>
          </a:xfrm>
          <a:prstGeom prst="roundRect">
            <a:avLst>
              <a:gd name="adj" fmla="val 976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37877" y="2505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Ключевые события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811735"/>
            <a:ext cx="200694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Появление первых ЭВМ и необходимость хранения данных на магнитных носителях; развивались файловые менеджеры и простые прикладные утилиты.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363465"/>
            <a:ext cx="2290539" cy="2177728"/>
          </a:xfrm>
          <a:prstGeom prst="roundRect">
            <a:avLst>
              <a:gd name="adj" fmla="val 976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070101" y="2505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Примеры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811735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Текстовые файлы, flat-file таблицы, первые ведомости и электронные таблицы.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4349"/>
            <a:ext cx="842307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 2 — Сетевые и иерархические модели (1960-е–1970-е)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65162" y="965746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Характеристика:</a:t>
            </a: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Данные структурированы как деревья (иерархические) или произвольные графы (сетевые). Жёсткие схемы, сложные навигационные операции.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7926" y="2314976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Ключевые события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1175" y="2683520"/>
            <a:ext cx="2850289" cy="2180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Разработка IBM IMS (иерархическая модель)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Стандарты CODASYL для сетевых СУБД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Широкое использование в мейнфреймах и критичных системах</a:t>
            </a:r>
            <a:endParaRPr lang="en-US" sz="11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4F461F-4B8A-394D-2BF1-1826E70B2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014" y="1626840"/>
            <a:ext cx="4839605" cy="31396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5A7E1B-BA46-A1C5-939E-E0D4F3B98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155" y="4782129"/>
            <a:ext cx="1752845" cy="332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2340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 3 — Реляционная модель (1970-е–1980-е)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84472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Характеристика:</a:t>
            </a: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Данные представлены таблицами (отношениями). Формальная теория, операции на множествах, декларативный язык SQL.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684636"/>
            <a:ext cx="2290465" cy="1535385"/>
          </a:xfrm>
          <a:prstGeom prst="roundRect">
            <a:avLst>
              <a:gd name="adj" fmla="val 1385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56927" y="28454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Ключевые события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3151956"/>
            <a:ext cx="19688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Теория Эдгара Кодда; появление Ingres, Oracle, IBM DB2; стандартизация SQL.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684636"/>
            <a:ext cx="2290539" cy="1535385"/>
          </a:xfrm>
          <a:prstGeom prst="roundRect">
            <a:avLst>
              <a:gd name="adj" fmla="val 1385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089151" y="28454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Влияние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9151" y="3151956"/>
            <a:ext cx="19689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Упрощение проектирования, рост коммерческого рынка баз данных, массовое внедрение в бизнесе.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4349"/>
            <a:ext cx="866224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 4 — Объектно-ориентированные СУБД (1980-е–1990-е)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65162" y="965746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9000"/>
              </a:lnSpc>
              <a:buNone/>
            </a:pPr>
            <a:r>
              <a:rPr lang="en-US" sz="10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Характеристика:</a:t>
            </a: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Хранение данных как объектов — атрибуты и методы, наследование и сложные типы данных. Подходит для мультимедиа и CAD/CAE-приложений.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92266" y="1826700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Ключевые события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19502" y="2340686"/>
            <a:ext cx="2664023" cy="2088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Появление Objectivity/DB, GemStone/S</a:t>
            </a:r>
            <a:endParaRPr lang="en-US" sz="10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Попытки интеграции объектной модели с прикладными языками</a:t>
            </a:r>
            <a:endParaRPr lang="en-US" sz="10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интереса для приложений со сложными структурами данных</a:t>
            </a:r>
            <a:endParaRPr lang="en-US" sz="1050" dirty="0"/>
          </a:p>
        </p:txBody>
      </p:sp>
      <p:pic>
        <p:nvPicPr>
          <p:cNvPr id="11" name="Рисунок 10" descr="OBJECT-ORIENTED DATABASE (OODB)">
            <a:extLst>
              <a:ext uri="{FF2B5EF4-FFF2-40B4-BE49-F238E27FC236}">
                <a16:creationId xmlns:a16="http://schemas.microsoft.com/office/drawing/2014/main" id="{1A67C07E-6FEC-A420-9BBB-0D4402374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1" y="1826700"/>
            <a:ext cx="5351275" cy="240807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917A3F-E109-5942-2B97-213357694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155" y="4714815"/>
            <a:ext cx="1752845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765274"/>
            <a:ext cx="4905975" cy="1063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 5 — Объектно-реляционные СУБД (1990-е–2000-е)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74329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Характеристика:</a:t>
            </a: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Гибрид: реляционная основа с поддержкой объектных типов и расширяемых структур данных.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654052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37877" y="27958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Ключевые события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102322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Oracle Database 8 расширил функциональность; PostgreSQL внедрил пользовательские типы и расширения.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654052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070101" y="27958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Значение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3102322"/>
            <a:ext cx="20070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Лучшее соответствие прикладным моделям, совместимость с SQL, плавный переход от чисто реляционных систем.</a:t>
            </a:r>
            <a:endParaRPr lang="en-US" sz="11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134007F-35A9-45D6-B9C6-ED7224F9D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991" y="730"/>
            <a:ext cx="32620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4349"/>
            <a:ext cx="732747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Этап 6 — NoSQL (с 2000-х гг. по настоящее время)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65162" y="965746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9000"/>
              </a:lnSpc>
              <a:buNone/>
            </a:pPr>
            <a:r>
              <a:rPr lang="en-US" sz="10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Характеристика:</a:t>
            </a: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Нереляционные модели: документные, ключ‑значение, колоночные и графовые. Главные приоритеты — масштабируемость и гибкость схемы.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7926" y="2248272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Ключевые события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5162" y="2580531"/>
            <a:ext cx="2664023" cy="2038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Появление MongoDB, Cassandra, Redis, Neo4j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Big Data и распределённых систем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Акцент на горизонтальном масштабировании и отказоустойчивости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096" y="1657945"/>
            <a:ext cx="5225430" cy="296101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A5932B-B90D-4FE0-CD86-6A13D35B7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155" y="4714815"/>
            <a:ext cx="1752845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92201" y="784771"/>
            <a:ext cx="405750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Современные тенденции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86262" y="1337591"/>
            <a:ext cx="413586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Кратко о текущих трендах, формирующих будущее СУБД.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9777" y="1746013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56658" y="17380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Облачные СУБД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456658" y="2044526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Elastiчность, оплата по потреблению, управляемые сервисы (DBaaS).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9777" y="2781672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56658" y="278167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ИИ и аналитика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456658" y="3088184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Оптимизация планов запросов, встроенная аналитика, автоматизация администрирования.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6262" y="3825329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56658" y="38253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Графовые БД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456658" y="413184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Анализ связей, рекомендации, обнаружение мошенничества.</a:t>
            </a:r>
            <a:endParaRPr lang="en-US" sz="11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1A732C-2126-E0C0-DC70-952212692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3774332" cy="51448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F656E77-6ADC-34BB-212B-FDA6F4F0A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155" y="4716165"/>
            <a:ext cx="1752845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647" y="0"/>
            <a:ext cx="354735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7" y="1333275"/>
            <a:ext cx="4722763" cy="10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Заключение: непрерывная эволюция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6" y="2571750"/>
            <a:ext cx="4722763" cy="126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СУБД прошли путь от файловых хранилищ до распределённых и «умных» систем. Каждое поколение расширяло возможности хранения, доступа и анализа данных. Будущее — за гибридностью, облаком и интеграцией ИИ.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56816" y="3214911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465</Words>
  <Application>Microsoft Office PowerPoint</Application>
  <PresentationFormat>Экран (16:9)</PresentationFormat>
  <Paragraphs>59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Prata</vt:lpstr>
      <vt:lpstr>Manrope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Ivan Krotov</cp:lastModifiedBy>
  <cp:revision>4</cp:revision>
  <dcterms:created xsi:type="dcterms:W3CDTF">2026-05-24T13:09:33Z</dcterms:created>
  <dcterms:modified xsi:type="dcterms:W3CDTF">2026-05-24T14:15:02Z</dcterms:modified>
</cp:coreProperties>
</file>